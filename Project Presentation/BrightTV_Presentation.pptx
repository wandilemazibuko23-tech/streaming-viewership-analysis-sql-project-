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Arial"/>
              </a:rPr>
              <a:t>Sessions by Hour of Day (SA Time)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A8DAD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8DAD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8DAD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8DAD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8DAD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8DAD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A8DAD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A8DADC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A8DADC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A8DADC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A8DADC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A8DADC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A8DADC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5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6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7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8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9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20"/>
            <c:invertIfNegative val="0"/>
            <c:bubble3D val="0"/>
            <c:spPr>
              <a:solidFill>
                <a:srgbClr val="A8DADC"/>
              </a:solidFill>
              <a:effectLst/>
            </c:spPr>
          </c:dPt>
          <c:dPt>
            <c:idx val="21"/>
            <c:invertIfNegative val="0"/>
            <c:bubble3D val="0"/>
            <c:spPr>
              <a:solidFill>
                <a:srgbClr val="A8DADC"/>
              </a:solidFill>
              <a:effectLst/>
            </c:spPr>
          </c:dPt>
          <c:dPt>
            <c:idx val="22"/>
            <c:invertIfNegative val="0"/>
            <c:bubble3D val="0"/>
            <c:spPr>
              <a:solidFill>
                <a:srgbClr val="A8DADC"/>
              </a:solidFill>
              <a:effectLst/>
            </c:spPr>
          </c:dPt>
          <c:dPt>
            <c:idx val="23"/>
            <c:invertIfNegative val="0"/>
            <c:bubble3D val="0"/>
            <c:spPr>
              <a:solidFill>
                <a:srgbClr val="A8DADC"/>
              </a:solidFill>
              <a:effectLst/>
            </c:spPr>
          </c:dPt>
          <c:cat>
            <c:multiLvlStrRef>
              <c:f>Sheet1!$A$2:$A$25</c:f>
              <c:multiLvlStrCache>
                <c:ptCount val="24"/>
                <c:lvl>
                  <c:pt idx="0">
                    <c:v>00</c:v>
                  </c:pt>
                  <c:pt idx="1">
                    <c:v>01</c:v>
                  </c:pt>
                  <c:pt idx="2">
                    <c:v>02</c:v>
                  </c:pt>
                  <c:pt idx="3">
                    <c:v>03</c:v>
                  </c:pt>
                  <c:pt idx="4">
                    <c:v>04</c:v>
                  </c:pt>
                  <c:pt idx="5">
                    <c:v>05</c:v>
                  </c:pt>
                  <c:pt idx="6">
                    <c:v>06</c:v>
                  </c:pt>
                  <c:pt idx="7">
                    <c:v>07</c:v>
                  </c:pt>
                  <c:pt idx="8">
                    <c:v>08</c:v>
                  </c:pt>
                  <c:pt idx="9">
                    <c:v>09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180</c:v>
                </c:pt>
                <c:pt idx="1">
                  <c:v>103</c:v>
                </c:pt>
                <c:pt idx="2">
                  <c:v>80</c:v>
                </c:pt>
                <c:pt idx="3">
                  <c:v>55</c:v>
                </c:pt>
                <c:pt idx="4">
                  <c:v>49</c:v>
                </c:pt>
                <c:pt idx="5">
                  <c:v>94</c:v>
                </c:pt>
                <c:pt idx="6">
                  <c:v>180</c:v>
                </c:pt>
                <c:pt idx="7">
                  <c:v>298</c:v>
                </c:pt>
                <c:pt idx="8">
                  <c:v>401</c:v>
                </c:pt>
                <c:pt idx="9">
                  <c:v>402</c:v>
                </c:pt>
                <c:pt idx="10">
                  <c:v>541</c:v>
                </c:pt>
                <c:pt idx="11">
                  <c:v>539</c:v>
                </c:pt>
                <c:pt idx="12">
                  <c:v>634</c:v>
                </c:pt>
                <c:pt idx="13">
                  <c:v>568</c:v>
                </c:pt>
                <c:pt idx="14">
                  <c:v>620</c:v>
                </c:pt>
                <c:pt idx="15">
                  <c:v>637</c:v>
                </c:pt>
                <c:pt idx="16">
                  <c:v>627</c:v>
                </c:pt>
                <c:pt idx="17">
                  <c:v>648</c:v>
                </c:pt>
                <c:pt idx="18">
                  <c:v>628</c:v>
                </c:pt>
                <c:pt idx="19">
                  <c:v>647</c:v>
                </c:pt>
                <c:pt idx="20">
                  <c:v>622</c:v>
                </c:pt>
                <c:pt idx="21">
                  <c:v>585</c:v>
                </c:pt>
                <c:pt idx="22">
                  <c:v>498</c:v>
                </c:pt>
                <c:pt idx="23">
                  <c:v>364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9FA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9FA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Arial"/>
              </a:rPr>
              <a:t>Sessions by Day of Week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E76F5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76F5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9C46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9C46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9C46A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957</c:v>
                </c:pt>
                <c:pt idx="1">
                  <c:v>1322</c:v>
                </c:pt>
                <c:pt idx="2">
                  <c:v>1553</c:v>
                </c:pt>
                <c:pt idx="3">
                  <c:v>1441</c:v>
                </c:pt>
                <c:pt idx="4">
                  <c:v>1675</c:v>
                </c:pt>
                <c:pt idx="5">
                  <c:v>1633</c:v>
                </c:pt>
                <c:pt idx="6">
                  <c:v>1419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9FA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9FA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Arial"/>
              </a:rPr>
              <a:t>By Gender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Viewers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bubble3D val="0"/>
            <c:spPr>
              <a:solidFill>
                <a:srgbClr val="E9C46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3723</c:v>
                </c:pt>
                <c:pt idx="1">
                  <c:v>488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Arial"/>
              </a:rPr>
              <a:t>Sessions by Age Group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A8DAD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8DAD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A8DADC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&lt;18</c:v>
                  </c:pt>
                  <c:pt idx="1">
                    <c:v>18-24</c:v>
                  </c:pt>
                  <c:pt idx="2">
                    <c:v>25-34</c:v>
                  </c:pt>
                  <c:pt idx="3">
                    <c:v>35-44</c:v>
                  </c:pt>
                  <c:pt idx="4">
                    <c:v>45-54</c:v>
                  </c:pt>
                  <c:pt idx="5">
                    <c:v>55+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279</c:v>
                </c:pt>
                <c:pt idx="1">
                  <c:v>1484</c:v>
                </c:pt>
                <c:pt idx="2">
                  <c:v>4148</c:v>
                </c:pt>
                <c:pt idx="3">
                  <c:v>2635</c:v>
                </c:pt>
                <c:pt idx="4">
                  <c:v>927</c:v>
                </c:pt>
                <c:pt idx="5">
                  <c:v>257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9FA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9FA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Arial"/>
              </a:rPr>
              <a:t>Sessions by Province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0D1B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1B2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8DAD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A8DAD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7F9FAD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7F9FAD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7F9FAD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Gauteng</c:v>
                  </c:pt>
                  <c:pt idx="1">
                    <c:v>Western Cape</c:v>
                  </c:pt>
                  <c:pt idx="2">
                    <c:v>KZN</c:v>
                  </c:pt>
                  <c:pt idx="3">
                    <c:v>Mpumalanga</c:v>
                  </c:pt>
                  <c:pt idx="4">
                    <c:v>Limpopo</c:v>
                  </c:pt>
                  <c:pt idx="5">
                    <c:v>Eastern Cape</c:v>
                  </c:pt>
                  <c:pt idx="6">
                    <c:v>NW</c:v>
                  </c:pt>
                  <c:pt idx="7">
                    <c:v>Free State</c:v>
                  </c:pt>
                  <c:pt idx="8">
                    <c:v>N Cape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3654</c:v>
                </c:pt>
                <c:pt idx="1">
                  <c:v>1845</c:v>
                </c:pt>
                <c:pt idx="2">
                  <c:v>1001</c:v>
                </c:pt>
                <c:pt idx="3">
                  <c:v>918</c:v>
                </c:pt>
                <c:pt idx="4">
                  <c:v>763</c:v>
                </c:pt>
                <c:pt idx="5">
                  <c:v>690</c:v>
                </c:pt>
                <c:pt idx="6">
                  <c:v>344</c:v>
                </c:pt>
                <c:pt idx="7">
                  <c:v>292</c:v>
                </c:pt>
                <c:pt idx="8">
                  <c:v>230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9FA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3474720"/>
            <a:ext cx="8915400" cy="54864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Viewership Analytics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3703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7F9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to grow BrightTV's subscription base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206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9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| Customer Value Management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8229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051560"/>
            <a:ext cx="1591056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4592" y="1051560"/>
            <a:ext cx="64008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" y="1124712"/>
            <a:ext cx="1362456" cy="5532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9184" y="1604772"/>
            <a:ext cx="136245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9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Sessions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38528" y="1051560"/>
            <a:ext cx="1591056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938528" y="1051560"/>
            <a:ext cx="64008" cy="10058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0" y="1124712"/>
            <a:ext cx="1362456" cy="5532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4,386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103120" y="1604772"/>
            <a:ext cx="136245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9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Viewers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12464" y="1051560"/>
            <a:ext cx="1591056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712464" y="1051560"/>
            <a:ext cx="64008" cy="100584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77056" y="1124712"/>
            <a:ext cx="1362456" cy="5532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2.28×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877056" y="1604772"/>
            <a:ext cx="136245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9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Sessions / User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0" y="1051560"/>
            <a:ext cx="1591056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0" y="1051560"/>
            <a:ext cx="64008" cy="10058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50992" y="1124712"/>
            <a:ext cx="1362456" cy="5532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 min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650992" y="1604772"/>
            <a:ext cx="136245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9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Session Duration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60336" y="1051560"/>
            <a:ext cx="1591056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260336" y="1051560"/>
            <a:ext cx="64008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24928" y="1124712"/>
            <a:ext cx="1362456" cy="5532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1,498 hrs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7424928" y="1604772"/>
            <a:ext cx="136245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9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Viewing Hours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377440"/>
            <a:ext cx="8229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" y="2194560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21945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5800" y="248716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dominates: Supersport Live Events (1,638 sessions) and ICC Cricket (1,465) lead all content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5800" y="2871216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viewers drive 88% of sessions — females are an untapped growth segment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5800" y="3255264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hours are 12:00–20:00 SA Time; Friday &amp; Saturday record the highest viewership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5800" y="363931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is the lowest-traffic day, presenting a clear opportunity to run targeted campaigns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5800" y="402336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Gauteng &amp; Western Cape account for 55%+ of all sessions — geographic concentration is high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Popularity — Top 10 by Sessions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8229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0584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Supersport Live Events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91840" y="1051560"/>
            <a:ext cx="5303520" cy="219456"/>
          </a:xfrm>
          <a:prstGeom prst="rect">
            <a:avLst/>
          </a:prstGeom>
          <a:solidFill>
            <a:srgbClr val="E2ECF0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1051560"/>
            <a:ext cx="5303520" cy="21945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41080" y="100584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9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1,638 | 11.5 min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38074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 Cricket World Cup 2011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426464"/>
            <a:ext cx="5303520" cy="219456"/>
          </a:xfrm>
          <a:prstGeom prst="rect">
            <a:avLst/>
          </a:prstGeom>
          <a:solidFill>
            <a:srgbClr val="E2ECF0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426464"/>
            <a:ext cx="4743380" cy="21945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41080" y="138074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9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1,465 | 16.9 min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" y="175564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1801368"/>
            <a:ext cx="5303520" cy="219456"/>
          </a:xfrm>
          <a:prstGeom prst="rect">
            <a:avLst/>
          </a:prstGeom>
          <a:solidFill>
            <a:srgbClr val="E2ECF0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801368"/>
            <a:ext cx="3399692" cy="21945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41080" y="175564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9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1,050 | 11 min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320" y="213055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TV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91840" y="2176272"/>
            <a:ext cx="5303520" cy="219456"/>
          </a:xfrm>
          <a:prstGeom prst="rect">
            <a:avLst/>
          </a:prstGeom>
          <a:solidFill>
            <a:srgbClr val="E2ECF0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2176272"/>
            <a:ext cx="3082388" cy="21945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41080" y="213055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9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952 | 12.1 min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2505456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SuperSport Blitz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91840" y="2551176"/>
            <a:ext cx="5303520" cy="219456"/>
          </a:xfrm>
          <a:prstGeom prst="rect">
            <a:avLst/>
          </a:prstGeom>
          <a:solidFill>
            <a:srgbClr val="E2ECF0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91840" y="2551176"/>
            <a:ext cx="2901071" cy="21945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41080" y="2505456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9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896 | 6.1 min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" y="288036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Magic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91840" y="2926080"/>
            <a:ext cx="5303520" cy="219456"/>
          </a:xfrm>
          <a:prstGeom prst="rect">
            <a:avLst/>
          </a:prstGeom>
          <a:solidFill>
            <a:srgbClr val="E2ECF0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91840" y="2926080"/>
            <a:ext cx="2781272" cy="21945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41080" y="28803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9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859 | 3.3 min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4320" y="325526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Cartoon Network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91840" y="3300984"/>
            <a:ext cx="5303520" cy="219456"/>
          </a:xfrm>
          <a:prstGeom prst="rect">
            <a:avLst/>
          </a:prstGeom>
          <a:solidFill>
            <a:srgbClr val="E2ECF0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91840" y="3300984"/>
            <a:ext cx="2567577" cy="219456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41080" y="325526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9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793 | 5.3 min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74320" y="363016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Boomerang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91840" y="3675888"/>
            <a:ext cx="5303520" cy="219456"/>
          </a:xfrm>
          <a:prstGeom prst="rect">
            <a:avLst/>
          </a:prstGeom>
          <a:solidFill>
            <a:srgbClr val="E2ECF0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1840" y="3675888"/>
            <a:ext cx="2311791" cy="219456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41080" y="363016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9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714 | 6.2 min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74320" y="400507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91840" y="4050792"/>
            <a:ext cx="5303520" cy="219456"/>
          </a:xfrm>
          <a:prstGeom prst="rect">
            <a:avLst/>
          </a:prstGeom>
          <a:solidFill>
            <a:srgbClr val="E2ECF0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91840" y="4050792"/>
            <a:ext cx="1635090" cy="21945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41080" y="400507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9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505 | 8.1 min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74320" y="4379976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E! Entertainment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91840" y="4425696"/>
            <a:ext cx="5303520" cy="219456"/>
          </a:xfrm>
          <a:prstGeom prst="rect">
            <a:avLst/>
          </a:prstGeom>
          <a:solidFill>
            <a:srgbClr val="E2ECF0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91840" y="4425696"/>
            <a:ext cx="1188273" cy="21945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41080" y="4379976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9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367 | 6 min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641080" y="100584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9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| Avg Duration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 Patterns — When Viewers Watch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8229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274320" y="960120"/>
          <a:ext cx="54864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943600" y="960120"/>
          <a:ext cx="30175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3767328"/>
            <a:ext cx="164592" cy="16459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02920" y="3730752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&amp; Saturday peak (1,675 &amp; 1,633 sessions)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274320" y="4078224"/>
            <a:ext cx="164592" cy="16459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02920" y="4041648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is lowest — target for campaigns (957 sessions)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74320" y="4389120"/>
            <a:ext cx="164592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02920" y="4352544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time 12:00–20:00 drives majority of daily views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Watching — Viewer Demographics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8229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182880" y="1005840"/>
          <a:ext cx="292608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3291840" y="1005840"/>
          <a:ext cx="292608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2" descr=""/>
          <p:cNvGraphicFramePr/>
          <p:nvPr/>
        </p:nvGraphicFramePr>
        <p:xfrm>
          <a:off x="6309360" y="1005840"/>
          <a:ext cx="256032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Shape 2"/>
          <p:cNvSpPr/>
          <p:nvPr/>
        </p:nvSpPr>
        <p:spPr>
          <a:xfrm>
            <a:off x="274320" y="3383280"/>
            <a:ext cx="2743200" cy="1463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3"/>
          <p:cNvSpPr/>
          <p:nvPr/>
        </p:nvSpPr>
        <p:spPr>
          <a:xfrm>
            <a:off x="365760" y="34290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25–34 y/o are the #1 age segment with 4,148 sessions (41%)</a:t>
            </a:r>
            <a:endParaRPr lang="en-US" sz="1100" dirty="0"/>
          </a:p>
        </p:txBody>
      </p:sp>
      <p:sp>
        <p:nvSpPr>
          <p:cNvPr id="9" name="Shape 4"/>
          <p:cNvSpPr/>
          <p:nvPr/>
        </p:nvSpPr>
        <p:spPr>
          <a:xfrm>
            <a:off x="3200400" y="3383280"/>
            <a:ext cx="2743200" cy="1463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5"/>
          <p:cNvSpPr/>
          <p:nvPr/>
        </p:nvSpPr>
        <p:spPr>
          <a:xfrm>
            <a:off x="3291840" y="34290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viewers: 88% of sessions. Female is a major growth opportunity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6126480" y="3383280"/>
            <a:ext cx="2743200" cy="14630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7"/>
          <p:cNvSpPr/>
          <p:nvPr/>
        </p:nvSpPr>
        <p:spPr>
          <a:xfrm>
            <a:off x="6217920" y="34290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Gauteng + W. Cape = 56% of all sessions. Focus expansion here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Influencing Consumption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8229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5156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265176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60704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Content Type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435608"/>
            <a:ext cx="243230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content (Supersport + Cricket) accounts for 31% of all sessions. Live events drive the highest engagement.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05156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51560"/>
            <a:ext cx="2651760" cy="32918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060704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 Time of Day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10128" y="1435608"/>
            <a:ext cx="243230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Lunchtime (12:00) to early evening (19:00) is peak viewing. Mornings before 08:00 have lowest uptake.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05156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51560"/>
            <a:ext cx="2651760" cy="329184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060704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Day of Week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36208" y="1435608"/>
            <a:ext cx="243230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Weekends + Fridays outperform weekdays. Monday is the lowest-traffic day of the week.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97180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71800"/>
            <a:ext cx="2651760" cy="329184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980944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Gender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4048" y="3355848"/>
            <a:ext cx="243230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viewers dominate (88% of sessions). Female viewers lean toward Africa Magic and Cartoon Network.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97180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971800"/>
            <a:ext cx="2651760" cy="32918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2980944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Race &amp; Culture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10128" y="3355848"/>
            <a:ext cx="243230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viewers prefer Channel O &amp; Africa Magic. Indian/Asian viewers highly engage with cricket content.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297180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971800"/>
            <a:ext cx="2651760" cy="329184"/>
          </a:xfrm>
          <a:prstGeom prst="rect">
            <a:avLst/>
          </a:prstGeom>
          <a:solidFill>
            <a:srgbClr val="7F9FAD"/>
          </a:solidFill>
          <a:ln w="12700">
            <a:solidFill>
              <a:srgbClr val="7F9FA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2980944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Geography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36208" y="3355848"/>
            <a:ext cx="243230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Gauteng and Western Cape generate 56% of sessions — urban, connected markets drive viewership.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Low-Day Consumption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records the fewest sessions. Here's how to change that.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3840480" cy="1554480"/>
          </a:xfrm>
          <a:prstGeom prst="rect">
            <a:avLst/>
          </a:prstGeom>
          <a:solidFill>
            <a:srgbClr val="112233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6184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161848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Sports Recap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130552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highlight reels and match recaps every Monday morning — capitalise on weekend sports to drive traffic.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508760"/>
            <a:ext cx="3840480" cy="1554480"/>
          </a:xfrm>
          <a:prstGeom prst="rect">
            <a:avLst/>
          </a:prstGeom>
          <a:solidFill>
            <a:srgbClr val="112233"/>
          </a:solidFill>
          <a:ln w="25400">
            <a:solidFill>
              <a:srgbClr val="E9C4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00600" y="16184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349240" y="161848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"Monday Binge" Playlist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2130552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 themed playlists (e.g. Top 10 Goals, Best of Channel O) exclusively available Mondays to drive habit.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3246120"/>
            <a:ext cx="3840480" cy="1554480"/>
          </a:xfrm>
          <a:prstGeom prst="rect">
            <a:avLst/>
          </a:prstGeom>
          <a:solidFill>
            <a:srgbClr val="112233"/>
          </a:solidFill>
          <a:ln w="25400">
            <a:solidFill>
              <a:srgbClr val="E76F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355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51560" y="335584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 Campaign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867912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personalised push alerts Sunday night promoting Monday's exclusive or returning content series.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3246120"/>
            <a:ext cx="3840480" cy="1554480"/>
          </a:xfrm>
          <a:prstGeom prst="rect">
            <a:avLst/>
          </a:prstGeom>
          <a:solidFill>
            <a:srgbClr val="112233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0600" y="3355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349240" y="335584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Releases on Mondays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600" y="3867912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new episode drops or exclusive content launches on Mondays to build anticipation and routine.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Initiatives to Grow BrightTV's User Base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8229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41605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73152" cy="120700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👩 1. Female Audience Acquisition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viewers are only 12% of the base. Launch targeted campaigns via Africa Magic, E! Entertainment, Cartoon Network, and social media. Partner with female influencers.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1605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005840"/>
            <a:ext cx="73152" cy="1207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972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2. Youth-Focused Content (18–24)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444752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18–24 bracket is under-served. Invest in Afro-pop, gaming, and short-form content on Channel O and Trace TV to attract younger subscribers.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331720"/>
            <a:ext cx="41605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331720"/>
            <a:ext cx="73152" cy="120700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4231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3. Provincial Expansion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770632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KZN, Limpopo, and Mpumalanga are underpenetrated. Run geo-targeted digital campaigns with local language content and affordable data bundles.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2331720"/>
            <a:ext cx="41605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331720"/>
            <a:ext cx="73152" cy="12070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4231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4. Sports Live Rights &amp; Exclusivity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2770632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drives 31% of sessions and the highest avg. duration (16.9 min for cricket). Secure more live rights and exclusive sporting events to retain and grow subscribers.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657600"/>
            <a:ext cx="41605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657600"/>
            <a:ext cx="73152" cy="1207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7490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5. Personalised Recommendations Engine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096512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viewing data to build a recommendation engine. Serve culturally and demographically relevant content to increase sessions per user beyond the current 2.28 average.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3657600"/>
            <a:ext cx="41605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657600"/>
            <a:ext cx="73152" cy="1207008"/>
          </a:xfrm>
          <a:prstGeom prst="rect">
            <a:avLst/>
          </a:prstGeom>
          <a:solidFill>
            <a:srgbClr val="7F9FAD"/>
          </a:solidFill>
          <a:ln w="12700">
            <a:solidFill>
              <a:srgbClr val="7F9FA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7490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F9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👨‍👩‍👧 6. Family &amp; Kids Bundle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92040" y="4096512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Cartoon Network and Boomerang rank in the top 8 channels. A family bundle pricing tier could unlock a new subscriber segment and increase household penetration.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4206240"/>
            <a:ext cx="8915400" cy="54864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486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priorities for the CVM team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7955280" cy="566928"/>
          </a:xfrm>
          <a:prstGeom prst="rect">
            <a:avLst/>
          </a:prstGeom>
          <a:solidFill>
            <a:srgbClr val="0A25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874520"/>
            <a:ext cx="2331720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874520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(0–30 days)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017520" y="1874520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Monday engagement campaign with sports recaps + push notifications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578608"/>
            <a:ext cx="7955280" cy="566928"/>
          </a:xfrm>
          <a:prstGeom prst="rect">
            <a:avLst/>
          </a:prstGeom>
          <a:solidFill>
            <a:srgbClr val="0A25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578608"/>
            <a:ext cx="2331720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578608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(1–3 months)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017520" y="2578608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female &amp; youth acquisition campaigns; negotiate next cricket/live sports rights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282696"/>
            <a:ext cx="7955280" cy="566928"/>
          </a:xfrm>
          <a:prstGeom prst="rect">
            <a:avLst/>
          </a:prstGeom>
          <a:solidFill>
            <a:srgbClr val="0A25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282696"/>
            <a:ext cx="2331720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282696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Medium-term (3–6 months)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017520" y="3282696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recommendation engine; roll out provincial geo-targeted campaigns in KZN &amp; Limpopo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986784"/>
            <a:ext cx="7955280" cy="566928"/>
          </a:xfrm>
          <a:prstGeom prst="rect">
            <a:avLst/>
          </a:prstGeom>
          <a:solidFill>
            <a:srgbClr val="0A25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986784"/>
            <a:ext cx="2331720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986784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(6–12 months)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017520" y="3986784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Family Bundle tier; establish exclusive content pipeline for Mondays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754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9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 ·  Viewership Analytics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BrightTV Viewership Analytics</dc:title>
  <dc:subject>PptxGenJS Presentation</dc:subject>
  <dc:creator>PptxGenJS</dc:creator>
  <cp:lastModifiedBy>PptxGenJS</cp:lastModifiedBy>
  <cp:revision>1</cp:revision>
  <dcterms:created xsi:type="dcterms:W3CDTF">2026-04-19T18:33:29Z</dcterms:created>
  <dcterms:modified xsi:type="dcterms:W3CDTF">2026-04-19T18:33:29Z</dcterms:modified>
</cp:coreProperties>
</file>